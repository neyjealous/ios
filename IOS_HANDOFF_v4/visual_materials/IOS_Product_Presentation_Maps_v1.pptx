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Investment Operating System (IOS)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493776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Инвестиционная операционная система.</a:t>
            </a:r>
          </a:p>
          <a:p>
            <a:pPr>
              <a:defRPr sz="2000"/>
            </a:pPr>
            <a:r>
              <a:t>• Google Sheets + Apps Script.</a:t>
            </a:r>
          </a:p>
          <a:p>
            <a:pPr>
              <a:defRPr sz="2000"/>
            </a:pPr>
            <a:r>
              <a:t>• Русскоязычный интерфейс.</a:t>
            </a:r>
          </a:p>
          <a:p>
            <a:pPr>
              <a:defRPr sz="2000"/>
            </a:pPr>
            <a:r>
              <a:t>• Объяснимые инвестиционные решения.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Общая архитектура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493776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UI отделён от логики.</a:t>
            </a:r>
          </a:p>
          <a:p>
            <a:pPr>
              <a:defRPr sz="2000"/>
            </a:pPr>
            <a:r>
              <a:t>• Decision Engine — единый источник рекомендаций.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731520"/>
            <a:ext cx="612648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Courier New"/>
              </a:defRPr>
            </a:pPr>
            <a:r>
              <a:t>API</a:t>
            </a:r>
            <a:br/>
            <a:r>
              <a:t> │</a:t>
            </a:r>
            <a:br/>
            <a:r>
              <a:t>Raw Data</a:t>
            </a:r>
            <a:br/>
            <a:r>
              <a:t> │</a:t>
            </a:r>
            <a:br/>
            <a:r>
              <a:t>Universe</a:t>
            </a:r>
            <a:br/>
            <a:r>
              <a:t> │</a:t>
            </a:r>
            <a:br/>
            <a:r>
              <a:t>Facts</a:t>
            </a:r>
            <a:br/>
            <a:r>
              <a:t> │</a:t>
            </a:r>
            <a:br/>
            <a:r>
              <a:t>Features</a:t>
            </a:r>
            <a:br/>
            <a:r>
              <a:t> │</a:t>
            </a:r>
            <a:br/>
            <a:r>
              <a:t>Decision</a:t>
            </a:r>
            <a:br/>
            <a:r>
              <a:t> │</a:t>
            </a:r>
            <a:br/>
            <a:r>
              <a:t>Advisor</a:t>
            </a:r>
            <a:br/>
            <a:r>
              <a:t> │</a:t>
            </a:r>
            <a:br/>
            <a:r>
              <a:t>UI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Поток данных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493776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Строго однонаправленный поток.</a:t>
            </a:r>
          </a:p>
          <a:p>
            <a:pPr>
              <a:defRPr sz="2000"/>
            </a:pPr>
            <a:r>
              <a:t>• Каждый слой имеет единственный источник истины.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731520"/>
            <a:ext cx="612648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Courier New"/>
              </a:defRPr>
            </a:pPr>
            <a:r>
              <a:t>T-Invest/MOEX/ЦБ</a:t>
            </a:r>
            <a:br/>
            <a:r>
              <a:t>      │</a:t>
            </a:r>
            <a:br/>
            <a:r>
              <a:t> Providers</a:t>
            </a:r>
            <a:br/>
            <a:r>
              <a:t>      │</a:t>
            </a:r>
            <a:br/>
            <a:r>
              <a:t> Raw Data</a:t>
            </a:r>
            <a:br/>
            <a:r>
              <a:t>      │</a:t>
            </a:r>
            <a:br/>
            <a:r>
              <a:t> Directory</a:t>
            </a:r>
            <a:br/>
            <a:r>
              <a:t>      │</a:t>
            </a:r>
            <a:br/>
            <a:r>
              <a:t> Universe</a:t>
            </a:r>
            <a:br/>
            <a:r>
              <a:t>      │</a:t>
            </a:r>
            <a:br/>
            <a:r>
              <a:t> Facts</a:t>
            </a:r>
            <a:br/>
            <a:r>
              <a:t>      │</a:t>
            </a:r>
            <a:br/>
            <a:r>
              <a:t> Features</a:t>
            </a:r>
            <a:br/>
            <a:r>
              <a:t>      │</a:t>
            </a:r>
            <a:br/>
            <a:r>
              <a:t> Engines</a:t>
            </a:r>
            <a:br/>
            <a:r>
              <a:t>      │</a:t>
            </a:r>
            <a:br/>
            <a:r>
              <a:t> Decision</a:t>
            </a:r>
            <a:br/>
            <a:r>
              <a:t>      │</a:t>
            </a:r>
            <a:br/>
            <a:r>
              <a:t>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Инвестиционный движок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493776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Portfolio Engine</a:t>
            </a:r>
          </a:p>
          <a:p>
            <a:pPr>
              <a:defRPr sz="2000"/>
            </a:pPr>
            <a:r>
              <a:t>• Bond Engine</a:t>
            </a:r>
          </a:p>
          <a:p>
            <a:pPr>
              <a:defRPr sz="2000"/>
            </a:pPr>
            <a:r>
              <a:t>• Company Rating</a:t>
            </a:r>
          </a:p>
          <a:p>
            <a:pPr>
              <a:defRPr sz="2000"/>
            </a:pPr>
            <a:r>
              <a:t>• Reserve Engine</a:t>
            </a:r>
          </a:p>
          <a:p>
            <a:pPr>
              <a:defRPr sz="2000"/>
            </a:pPr>
            <a:r>
              <a:t>• Coupon Ladder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731520"/>
            <a:ext cx="612648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Courier New"/>
              </a:defRPr>
            </a:pPr>
            <a:r>
              <a:t>Portfolio</a:t>
            </a:r>
            <a:br/>
            <a:r>
              <a:t>   │</a:t>
            </a:r>
            <a:br/>
            <a:r>
              <a:t>Market</a:t>
            </a:r>
            <a:br/>
            <a:r>
              <a:t>   │</a:t>
            </a:r>
            <a:br/>
            <a:r>
              <a:t>Reserve</a:t>
            </a:r>
            <a:br/>
            <a:r>
              <a:t>   │</a:t>
            </a:r>
            <a:br/>
            <a:r>
              <a:t>Bond+Rating</a:t>
            </a:r>
            <a:br/>
            <a:r>
              <a:t>   │</a:t>
            </a:r>
            <a:br/>
            <a:r>
              <a:t>Decision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Синхронизация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493776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Быстрая</a:t>
            </a:r>
          </a:p>
          <a:p>
            <a:pPr>
              <a:defRPr sz="2000"/>
            </a:pPr>
            <a:r>
              <a:t>• Полная</a:t>
            </a:r>
          </a:p>
          <a:p>
            <a:pPr>
              <a:defRPr sz="2000"/>
            </a:pPr>
            <a:r>
              <a:t>• Пересчёт без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731520"/>
            <a:ext cx="612648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Courier New"/>
              </a:defRPr>
            </a:pPr>
            <a:r>
              <a:t>Fast</a:t>
            </a:r>
            <a:br/>
            <a:r>
              <a:t> │ Portfolio</a:t>
            </a:r>
            <a:br/>
            <a:br/>
            <a:r>
              <a:t>Full</a:t>
            </a:r>
            <a:br/>
            <a:r>
              <a:t> │ History</a:t>
            </a:r>
            <a:br/>
            <a:br/>
            <a:r>
              <a:t>Recalc</a:t>
            </a:r>
            <a:br/>
            <a:r>
              <a:t> │ No API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Многосчётность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493776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Стратегия для каждого счёта.</a:t>
            </a:r>
          </a:p>
          <a:p>
            <a:pPr>
              <a:defRPr sz="2000"/>
            </a:pPr>
            <a:r>
              <a:t>• Исключение счетов.</a:t>
            </a:r>
          </a:p>
          <a:p>
            <a:pPr>
              <a:defRPr sz="2000"/>
            </a:pPr>
            <a:r>
              <a:t>• Резервный счёт.</a:t>
            </a:r>
          </a:p>
          <a:p>
            <a:pPr>
              <a:defRPr sz="2000"/>
            </a:pPr>
            <a:r>
              <a:t>• Связь по Account ID.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Инвестиционная стратегия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493776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Акции + облигации + фонды.</a:t>
            </a:r>
          </a:p>
          <a:p>
            <a:pPr>
              <a:defRPr sz="2000"/>
            </a:pPr>
            <a:r>
              <a:t>• Резерв в фонде денежного рынка.</a:t>
            </a:r>
          </a:p>
          <a:p>
            <a:pPr>
              <a:defRPr sz="2000"/>
            </a:pPr>
            <a:r>
              <a:t>• Купонная лестница.</a:t>
            </a:r>
          </a:p>
          <a:p>
            <a:pPr>
              <a:defRPr sz="2000"/>
            </a:pPr>
            <a:r>
              <a:t>• Ребалансировка по стратегии.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Платформа разработки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493776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Codex</a:t>
            </a:r>
          </a:p>
          <a:p>
            <a:pPr>
              <a:defRPr sz="2000"/>
            </a:pPr>
            <a:r>
              <a:t>• MCP</a:t>
            </a:r>
          </a:p>
          <a:p>
            <a:pPr>
              <a:defRPr sz="2000"/>
            </a:pPr>
            <a:r>
              <a:t>• Субагенты</a:t>
            </a:r>
          </a:p>
          <a:p>
            <a:pPr>
              <a:defRPr sz="2000"/>
            </a:pPr>
            <a:r>
              <a:t>• Master Specification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Дорожная карта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493776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Стабилизация.</a:t>
            </a:r>
          </a:p>
          <a:p>
            <a:pPr>
              <a:defRPr sz="2000"/>
            </a:pPr>
            <a:r>
              <a:t>• Оптимизация.</a:t>
            </a:r>
          </a:p>
          <a:p>
            <a:pPr>
              <a:defRPr sz="2000"/>
            </a:pPr>
            <a:r>
              <a:t>• Развитие аналитики.</a:t>
            </a:r>
          </a:p>
          <a:p>
            <a:pPr>
              <a:defRPr sz="2000"/>
            </a:pPr>
            <a:r>
              <a:t>• Непрерывное документирование.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